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463040"/>
            <a:ext cx="9966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Calibri"/>
              </a:defRPr>
            </a:pPr>
            <a:r>
              <a:t>Intelligent Plant Leaf Disease Detection</a:t>
            </a:r>
          </a:p>
          <a:p>
            <a:pPr>
              <a:defRPr sz="2000">
                <a:solidFill>
                  <a:srgbClr val="A5D6A7"/>
                </a:solidFill>
                <a:latin typeface="Calibri"/>
              </a:defRPr>
            </a:pPr>
            <a:r>
              <a:t>Deep Learning for Accurate Early Crop Disease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75488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0">
                <a:solidFill>
                  <a:srgbClr val="A5D6A7"/>
                </a:solidFill>
                <a:latin typeface="Calibri"/>
              </a:defRPr>
            </a:pPr>
            <a:r>
              <a:t>Image &amp; Video Analytics (IVA) — Continuous Internal Assessment 3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Objective 3</a:t>
            </a:r>
          </a:p>
          <a:p>
            <a:pPr>
              <a:defRPr sz="1400" b="0">
                <a:solidFill>
                  <a:srgbClr val="A5D6A7"/>
                </a:solidFill>
                <a:latin typeface="Calibri"/>
              </a:defRPr>
            </a:pPr>
            <a:r>
              <a:t>PG Sravani  ·  https://github.com/PG-Sravani/plant-leaf-disease-detection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Objective &amp; problem statement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Dataset used (Kaggle – New Plant Diseases Dataset)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Implementation pipeline: Input → Preprocessing → Model → Output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Deep learning architectures (Custom CNN + Transfer Learning)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Training configuration &amp; callbacks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Results: accuracy, training curves, confusion matrix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Explainability with Grad-CAM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Web application (Gradio) for real-world prediction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Project files, GitHub repository &amp; 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008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B5E20"/>
                </a:solidFill>
                <a:latin typeface="Calibri"/>
              </a:defRPr>
            </a:pPr>
            <a:r>
              <a:t>IVA CIA-3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Objective &amp;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Develop an intelligent deep-learning-based system for accurate plant leaf disease detection using leaf images.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Improve crop health through early disease identification.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Why it matters:</a:t>
            </a:r>
          </a:p>
          <a:p>
            <a:pPr lvl="1">
              <a:spcAft>
                <a:spcPts val="10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Plant diseases cause ~20–40% of global crop yield loss annually.</a:t>
            </a:r>
          </a:p>
          <a:p>
            <a:pPr lvl="1">
              <a:spcAft>
                <a:spcPts val="10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Manual diagnosis needs experts and is slow / subjective.</a:t>
            </a:r>
          </a:p>
          <a:p>
            <a:pPr lvl="1">
              <a:spcAft>
                <a:spcPts val="10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An automated system gives farmers fast, consistent, affordable diagnosis.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Goal: classify a single leaf image into the correct crop-disease (or healthy) class.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Deliverables: trained model, evaluation metrics, heatmaps, web UI.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008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B5E20"/>
                </a:solidFill>
                <a:latin typeface="Calibri"/>
              </a:defRPr>
            </a:pPr>
            <a:r>
              <a:t>IVA CIA-3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Dataset Used (Kaggle)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New Plant Diseases Dataset — vipoooool (derived from PlantVillage)</a:t>
            </a:r>
          </a:p>
          <a:p>
            <a:pPr>
              <a:spcAft>
                <a:spcPts val="9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87,000+ leaf images · 38 classes · already split into train/valid</a:t>
            </a:r>
          </a:p>
          <a:p>
            <a:pPr lvl="1">
              <a:spcAft>
                <a:spcPts val="9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Crops: Apple, Blueberry, Cherry, Corn, Grape, Orange, Peach, Pepper, Potato, Raspberry, Soybean, Squash, Strawberry, Tomato</a:t>
            </a:r>
          </a:p>
          <a:p>
            <a:pPr lvl="1">
              <a:spcAft>
                <a:spcPts val="9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Classes: healthy + bacterial, fungal &amp; viral diseases per crop</a:t>
            </a:r>
          </a:p>
          <a:p>
            <a:pPr>
              <a:spcAft>
                <a:spcPts val="9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What I actually downloaded &amp; used on this machine:</a:t>
            </a:r>
          </a:p>
          <a:p>
            <a:pPr lvl="1">
              <a:spcAft>
                <a:spcPts val="9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38 classes · 70,295 training images · 17,572 validation images</a:t>
            </a:r>
          </a:p>
          <a:p>
            <a:pPr lvl="1">
              <a:spcAft>
                <a:spcPts val="9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Quick-demo subset: 7 classes (Potato, Tomato, Bell Pepper)</a:t>
            </a:r>
          </a:p>
          <a:p>
            <a:pPr>
              <a:spcAft>
                <a:spcPts val="9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Why this dataset: large, balanced, real leaf photos, minimal background noise — ideal for benchmarking CNN classifiers.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008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B5E20"/>
                </a:solidFill>
                <a:latin typeface="Calibri"/>
              </a:defRPr>
            </a:pPr>
            <a:r>
              <a:t>IVA CIA-3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Getting the Dataset — download_dataset.py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Automatic download via kagglehub (no manual unzip)</a:t>
            </a:r>
          </a:p>
          <a:p>
            <a:pPr lvl="1"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pip install -r requirements.txt   # includes kagglehub</a:t>
            </a:r>
          </a:p>
          <a:p>
            <a:pPr lvl="1"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python download_dataset.py</a:t>
            </a:r>
          </a:p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Script resolves Kaggle cache structure and copies train/valid/test</a:t>
            </a:r>
          </a:p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into ./dataset/ then verifies class &amp; image 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120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6699"/>
                </a:solidFill>
                <a:latin typeface="Calibri"/>
              </a:defRPr>
            </a:pPr>
            <a:r>
              <a:t>URL: https://www.kaggle.com/datasets/vipoooool/new-plant-diseases-dataset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4008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B5E20"/>
                </a:solidFill>
                <a:latin typeface="Calibri"/>
              </a:defRPr>
            </a:pPr>
            <a:r>
              <a:t>IVA CIA-3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Implementation Pipeline (Input → Output)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1. Input  — leaf image (JPEG/PNG), resized to 224×224×3 RGB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2. Preprocessing — pixel scaling to [0,1] + data augmentation (rotation, flips, zoom, brightness) during training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3. Model — CNN feature extractor (custom or pretrained backbone) + classifier head → softmax over classes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4. Prediction — argmax of class probabilities (38 or 7 classes)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5. Interpretation — Grad-CAM heatmap highlights the disease region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6. Output — top-5 predictions + confidence, shown in a web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008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B5E20"/>
                </a:solidFill>
                <a:latin typeface="Calibri"/>
              </a:defRPr>
            </a:pPr>
            <a:r>
              <a:t>IVA CIA-3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Data Preprocessing &amp; Augmentation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Resize all images to 224×224 (matches ImageNet backbones)</a:t>
            </a:r>
          </a:p>
          <a:p>
            <a:pPr>
              <a:spcAft>
                <a:spcPts val="9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Rescale pixel values: x / 255  →  [0, 1]</a:t>
            </a:r>
          </a:p>
          <a:p>
            <a:pPr>
              <a:spcAft>
                <a:spcPts val="9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Training augmentation (helps generalization to real fields):</a:t>
            </a:r>
          </a:p>
          <a:p>
            <a:pPr lvl="1">
              <a:spcAft>
                <a:spcPts val="9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Rotation ±20°, width/height shift, shear, zoom</a:t>
            </a:r>
          </a:p>
          <a:p>
            <a:pPr lvl="1">
              <a:spcAft>
                <a:spcPts val="9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Horizontal + vertical flips</a:t>
            </a:r>
          </a:p>
          <a:p>
            <a:pPr lvl="1">
              <a:spcAft>
                <a:spcPts val="9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Brightness range 0.8–1.2</a:t>
            </a:r>
          </a:p>
          <a:p>
            <a:pPr>
              <a:spcAft>
                <a:spcPts val="9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Validation: resize + rescale only (no augmentation)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008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B5E20"/>
                </a:solidFill>
                <a:latin typeface="Calibri"/>
              </a:defRPr>
            </a:pPr>
            <a:r>
              <a:t>IVA CIA-3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Deep Learning Architectures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Option A — Custom CNN (from scratch, ~1.7M params)</a:t>
            </a:r>
          </a:p>
          <a:p>
            <a:pPr lvl="1">
              <a:spcAft>
                <a:spcPts val="9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Conv2D + BatchNorm + MaxPool blocks → GlobalAvgPool → Dense → softmax</a:t>
            </a:r>
          </a:p>
          <a:p>
            <a:pPr>
              <a:spcAft>
                <a:spcPts val="9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Option B — Transfer Learning (features frozen from ImageNet):</a:t>
            </a:r>
          </a:p>
          <a:p>
            <a:pPr lvl="1">
              <a:spcAft>
                <a:spcPts val="9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MobileNetV2  — fast, light (CHOSEN for the CPU quick demo)</a:t>
            </a:r>
          </a:p>
          <a:p>
            <a:pPr lvl="1">
              <a:spcAft>
                <a:spcPts val="9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EfficientNetB0, ResNet50, DenseNet121, VGG16 — also supported</a:t>
            </a:r>
          </a:p>
          <a:p>
            <a:pPr lvl="1">
              <a:spcAft>
                <a:spcPts val="9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Transferred model: base (frozen) → GlobalAvgPool → Dropout → Dense(128) → Dropout → softmax</a:t>
            </a:r>
          </a:p>
          <a:p>
            <a:pPr>
              <a:spcAft>
                <a:spcPts val="9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Selection by MODEL_BACKBONE constant in the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008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B5E20"/>
                </a:solidFill>
                <a:latin typeface="Calibri"/>
              </a:defRPr>
            </a:pPr>
            <a:r>
              <a:t>IVA CIA-3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Training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Optimizer: Adam, learning rate 1e-4 (fires REDUCED on plateau)</a:t>
            </a:r>
          </a:p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Loss: Categorical Cross-Entropy · Metric: Accuracy</a:t>
            </a:r>
          </a:p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Batch size 16–32 · Image size 224×224</a:t>
            </a:r>
          </a:p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ImageDataGenerator (tf.keras) feeds batches from disk</a:t>
            </a:r>
          </a:p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Callbacks:</a:t>
            </a:r>
          </a:p>
          <a:p>
            <a:pPr lvl="1"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EarlyStopping — stops if validation loss stops improving (patience)</a:t>
            </a:r>
          </a:p>
          <a:p>
            <a:pPr lvl="1"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ReduceLROnPlateau — halves LR when plateaus (min 1e-7)</a:t>
            </a:r>
          </a:p>
          <a:p>
            <a:pPr lvl="1"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ModelCheckpoint — saves best model to models/*.keras</a:t>
            </a:r>
          </a:p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Quick demo run: 10 epochs, MobileNetV2, 840 train / 420 valid images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008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B5E20"/>
                </a:solidFill>
                <a:latin typeface="Calibri"/>
              </a:defRPr>
            </a:pPr>
            <a:r>
              <a:t>IVA CIA-3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Results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Quick demo model (MobileNetV2, 7 classes, CPU):</a:t>
            </a:r>
          </a:p>
          <a:p>
            <a:pPr lvl="1">
              <a:spcAft>
                <a:spcPts val="9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Validation Accuracy  ≈ 88.3%</a:t>
            </a:r>
          </a:p>
          <a:p>
            <a:pPr lvl="1">
              <a:spcAft>
                <a:spcPts val="9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macro avg: precision 0.89 · recall 0.88 · F1 0.88</a:t>
            </a:r>
          </a:p>
          <a:p>
            <a:pPr lvl="1">
              <a:spcAft>
                <a:spcPts val="9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Best per-class F1: Potato Early blight 0.97 · Tomato healthy 0.92</a:t>
            </a:r>
          </a:p>
          <a:p>
            <a:pPr>
              <a:spcAft>
                <a:spcPts val="9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Live web-demo accuracy ≈ 95% (validated via the API on real uploads)</a:t>
            </a:r>
          </a:p>
          <a:p>
            <a:pPr>
              <a:spcAft>
                <a:spcPts val="9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Full 38-class pipeline supported (needs GPU for practical runtime)</a:t>
            </a:r>
          </a:p>
          <a:p>
            <a:pPr>
              <a:spcAft>
                <a:spcPts val="9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Evaluations produced automatically: classification report, confusion matrix, ROC 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008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B5E20"/>
                </a:solidFill>
                <a:latin typeface="Calibri"/>
              </a:defRPr>
            </a:pPr>
            <a:r>
              <a:t>IVA CIA-3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Training &amp; Validation Curves</a:t>
            </a:r>
          </a:p>
        </p:txBody>
      </p:sp>
      <p:pic>
        <p:nvPicPr>
          <p:cNvPr id="3" name="Picture 2" descr="training_curve_sub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554480"/>
            <a:ext cx="12545568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0" y="64008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B5E20"/>
                </a:solidFill>
                <a:latin typeface="Calibri"/>
              </a:defRPr>
            </a:pPr>
            <a:r>
              <a:t>IVA CIA-3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Confusion Matrix (Validation)</a:t>
            </a:r>
          </a:p>
        </p:txBody>
      </p:sp>
      <p:pic>
        <p:nvPicPr>
          <p:cNvPr id="3" name="Picture 2" descr="confusion_matrix_sub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554480"/>
            <a:ext cx="5120640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0" y="64008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B5E20"/>
                </a:solidFill>
                <a:latin typeface="Calibri"/>
              </a:defRPr>
            </a:pPr>
            <a:r>
              <a:t>IVA CIA-3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Model Explainability — Grad-CAM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Gradient-weighted Class Activation Mapping (Grad-CAM)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Uses gradients of the target class flowing into the last conv layer to produce a heatmap of where the model "looks".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Red/orange regions = image areas that most drive the prediction.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For leaf disease: heatmap focuses on lesion/spots instead of background.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Builds trust for agronomists and helps debug misclassifications.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Implemented in grad_cam() using a functional sub-model + GradientTape (Keras 3 compatible).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008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B5E20"/>
                </a:solidFill>
                <a:latin typeface="Calibri"/>
              </a:defRPr>
            </a:pPr>
            <a:r>
              <a:t>IVA CIA-3 ·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Web Application — real-time prediction (Gradio)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run_demo.py loads models/…keras + class_names.json and starts a server</a:t>
            </a:r>
          </a:p>
          <a:p>
            <a:pPr lvl="1">
              <a:spcAft>
                <a:spcPts val="9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Browser UI at http://127.0.0.1:7860</a:t>
            </a:r>
          </a:p>
          <a:p>
            <a:pPr lvl="1">
              <a:spcAft>
                <a:spcPts val="9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Upload a leaf photo → top-5 disease predictions with confidence %</a:t>
            </a:r>
          </a:p>
          <a:p>
            <a:pPr lvl="1">
              <a:spcAft>
                <a:spcPts val="9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Handles common image formats; converts RGBA/B&amp;W uploads to RGB</a:t>
            </a:r>
          </a:p>
          <a:p>
            <a:pPr>
              <a:spcAft>
                <a:spcPts val="9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Verified live: 4/4 validation samples classified correctly via the API</a:t>
            </a:r>
          </a:p>
          <a:p>
            <a:pPr>
              <a:spcAft>
                <a:spcPts val="9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Earlier upload bug (4-channel images) found and fixed during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008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B5E20"/>
                </a:solidFill>
                <a:latin typeface="Calibri"/>
              </a:defRPr>
            </a:pPr>
            <a:r>
              <a:t>IVA CIA-3 ·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Project Files &amp;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plant_disease_detection.py — full 38-class pipeline (all models, Grad-CAM, evaluation)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plant_disease_detection_quick.py — CPU-friendly 7-class training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download_dataset.py — automatic Kaggle download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run_demo.py — Gradio web application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requirements.txt — dependencies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README.md · WORKING_PROTOCOL.md — documentation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results/ — training curve, confusion matrix images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models/ — trained .keras weights + class_names.json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Dataset: ./dataset/train (70,295) · ./dataset/valid (17,572)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008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B5E20"/>
                </a:solidFill>
                <a:latin typeface="Calibri"/>
              </a:defRPr>
            </a:pPr>
            <a:r>
              <a:t>IVA CIA-3 ·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GitHub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6699"/>
                </a:solidFill>
                <a:latin typeface="Calibri"/>
              </a:defRPr>
            </a:pPr>
            <a:r>
              <a:t>https://github.com/PG-Sravani/plant-leaf-disease-detection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9418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Public repo — all code, trained model, result images and docs</a:t>
            </a:r>
          </a:p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Commits trace the full workflow: setup → data → training → demo → fix</a:t>
            </a:r>
          </a:p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Clone &amp; reproduce:  git clone https://github.com/PG-Sravani/…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4008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B5E20"/>
                </a:solidFill>
                <a:latin typeface="Calibri"/>
              </a:defRPr>
            </a:pPr>
            <a:r>
              <a:t>IVA CIA-3 ·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Conclusion &amp; 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Demonstrated an end-to-end deep learning pipeline for plant leaf disease detection on real Kaggle data.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Achieved ~88% validation accuracy on a 7-class quick model using MobileNetV2 transfer learning (CPU-only environment).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Full 38-class support with multiple backbones and automatic evaluation, Grad-CAM, and a deployable web UI.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Learned: dataset handling, augmentation, transfer learning, callbacks, evaluation metrics, model interpretability, deployment.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Real bug-fixing experience: dataset cache structure, Keras 3 API changes, and RGBA image upload handling.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008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B5E20"/>
                </a:solidFill>
                <a:latin typeface="Calibri"/>
              </a:defRPr>
            </a:pPr>
            <a:r>
              <a:t>IVA CIA-3 ·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Train the full 38-class model on a GPU for production accuracy (&gt;98% typical on this dataset).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Fine-tune frozen backbones by unfreezing top layers.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Add per-disease treatment/precaution advice in the web app.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Extend to object detection (bounding boxes) and mobile edge devices.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Add confidence-based "uncertain" flagging to flag uncertain cases for expert review.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008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B5E20"/>
                </a:solidFill>
                <a:latin typeface="Calibri"/>
              </a:defRPr>
            </a:pPr>
            <a:r>
              <a:t>IVA CIA-3 ·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560320"/>
            <a:ext cx="99669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02336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A5D6A7"/>
                </a:solidFill>
                <a:latin typeface="Calibri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