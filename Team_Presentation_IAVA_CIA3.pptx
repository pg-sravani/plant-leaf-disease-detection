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AI-Based Crop Disease Detection</a:t>
            </a:r>
            <a:br/>
            <a:r>
              <a:t>and Health Monitoring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64"/>
                </a:solidFill>
                <a:latin typeface="Calibri"/>
              </a:defRPr>
            </a:pPr>
            <a:r>
              <a:t>Using Image Processing and 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474720"/>
            <a:ext cx="2679192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CFFDC"/>
                </a:solidFill>
                <a:latin typeface="Calibri"/>
              </a:defRPr>
            </a:pPr>
            <a:r>
              <a:t>Subject: Image and Video Analytics (CSEDS743E04)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CFFDC"/>
                </a:solidFill>
                <a:latin typeface="Calibri"/>
              </a:defRPr>
            </a:pPr>
            <a:r>
              <a:t>Mentor: Prof Shruti Jalapur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C896"/>
                </a:solidFill>
                <a:latin typeface="Calibri"/>
              </a:defRPr>
            </a:pPr>
            <a:r>
              <a:t>Department of Computer Science and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CFFDC"/>
                </a:solidFill>
                <a:latin typeface="Calibri"/>
              </a:defRPr>
            </a:pPr>
            <a:r>
              <a:t>Team: PG Sravani (2360429)  |  Dominic Andrew P (2360365)  |  Aryaahi Singh (2360342)  |  Vidhi Garg (2360479)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64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Agriculture supports the global economy and food security for a growing population.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20-40% of global crop production is lost annually due to plant diseases, pests, and environmental stress (Global Agricultural Reports).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Diseases are caused by fungi, bacteria, viruses, nematodes, and nutrient deficiencies — causing discoloration, yellowing, necrosis, wilting, spots, and lesions.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Manual diagnosis is labor-intensive, subjective, time-consuming, and depends on expert availability.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Excessive pesticide use increases costs and causes soil degradation, water pollution, and environmental harm.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AI and Deep Learning enable automated, rapid, objective, and highly accurate disease diagnosis from smartphone/drone/satellite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6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Existing crop disease detection systems are trained on controlled lab datasets (e.g., PlantVillage) and fail in real-field conditions.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Models degrade 25-35% in accuracy under varying illumination, shadows, occlusions, and complex backgrounds.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Most systems focus only on classification — not localization, severity estimation, health assessment, or decision support.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High-accuracy models are computationally heavy and unsuitable for mobile/edge deployment in farms.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Lack of model interpretability (XAI) prevents farmers from trusting and acting on AI predictions.</a:t>
            </a:r>
          </a:p>
          <a:p>
            <a:pPr>
              <a:spcAft>
                <a:spcPts val="800"/>
              </a:spcAft>
              <a:defRPr sz="1800">
                <a:solidFill>
                  <a:srgbClr val="DCFFDC"/>
                </a:solidFill>
                <a:latin typeface="Calibri"/>
              </a:defRPr>
            </a:pPr>
            <a:r>
              <a:t>Limited diverse annotated datasets restrict generalization across crop species, regions, and seasons.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64"/>
                </a:solidFill>
                <a:latin typeface="Calibri"/>
              </a:defRPr>
            </a:pPr>
            <a:r>
              <a:t>Motivation &amp; 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22860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Four Core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1. Baseline Detection (ResNet/EfficientNet)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2. Spatial Localization (YOLOv8/U-Net)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3. Edge-Optimized Hybrid AI (MobileNetV3+ViT)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4. Decision Support &amp; XAI (Grad-CAM)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029200" cy="22860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Key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&gt;99% validation accuracy achieved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3.7M parameters — lightweight for edge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Modular architecture for flexibility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Real-time inference on mobile 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5912" cy="237744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Integration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3601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Phase 1: Preprocessing pipelines, baseline model training, segmentation scripts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Phase 2: CNN-ViT hybrid fusion, fine-tune for early symptoms, XAI logic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Phase 3: Severity mask calculations, XAI heatmaps connected to model outputs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Phase 4: Final pipeline — combining localization, classification, and treatment engines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64"/>
                </a:solidFill>
                <a:latin typeface="Calibri"/>
              </a:defRPr>
            </a:pPr>
            <a:r>
              <a:t>Literature Survey (Selected Papers)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41148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2743200" cy="457200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Paper /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14400"/>
            <a:ext cx="731520" cy="457200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Quartile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914400"/>
            <a:ext cx="2560320" cy="457200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914400"/>
            <a:ext cx="2560320" cy="457200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914400"/>
            <a:ext cx="2286000" cy="457200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274320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ViT-U-Net Fusion Model</a:t>
            </a:r>
            <a:br/>
            <a:r>
              <a:t>(Plant Leaf Diseases)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7315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71600"/>
            <a:ext cx="25603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Hybrid ViT + U-Net</a:t>
            </a:r>
            <a:br/>
            <a:r>
              <a:t>segmentation-aware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371600"/>
            <a:ext cx="25603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New Plant Diseases</a:t>
            </a:r>
            <a:br/>
            <a:r>
              <a:t>Dataset (87K+, 38 classes)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28600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99.21% acc, 93.87% IoU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76272"/>
            <a:ext cx="274320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Hybrid CNN-ViT Framework</a:t>
            </a:r>
            <a:br/>
            <a:r>
              <a:t>for Disease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176272"/>
            <a:ext cx="7315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176272"/>
            <a:ext cx="25603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EfficientNet-B7 +</a:t>
            </a:r>
            <a:br/>
            <a:r>
              <a:t>ViT-B16 fusion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176272"/>
            <a:ext cx="25603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Kaggle New Plant</a:t>
            </a:r>
            <a:br/>
            <a:r>
              <a:t>Diseases (38 classes)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176272"/>
            <a:ext cx="228600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98.13% acc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80944"/>
            <a:ext cx="274320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MobileNetV3 Customized</a:t>
            </a:r>
            <a:br/>
            <a:r>
              <a:t>Plant Disease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80944"/>
            <a:ext cx="7315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980944"/>
            <a:ext cx="25603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Custom MobileNetV3Large</a:t>
            </a:r>
            <a:br/>
            <a:r>
              <a:t>Two-stage transfer learning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980944"/>
            <a:ext cx="25603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Hybrid (21K images,</a:t>
            </a:r>
            <a:br/>
            <a:r>
              <a:t>26 classes, 5 crops)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980944"/>
            <a:ext cx="228600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99.37% acc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85616"/>
            <a:ext cx="274320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CDH-Capsule Network</a:t>
            </a:r>
            <a:br/>
            <a:r>
              <a:t>for Disease Recognition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785616"/>
            <a:ext cx="7315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785616"/>
            <a:ext cx="25603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Color Diff Histogram</a:t>
            </a:r>
            <a:br/>
            <a:r>
              <a:t>Capsule Network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785616"/>
            <a:ext cx="25603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10 datasets: Apple,</a:t>
            </a:r>
            <a:br/>
            <a:r>
              <a:t>Banana, Grape, etc.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785616"/>
            <a:ext cx="228600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High acc, fewer params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90288"/>
            <a:ext cx="274320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BERT-ResNet-PSO</a:t>
            </a:r>
            <a:br/>
            <a:r>
              <a:t>Cotton Disease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590288"/>
            <a:ext cx="7315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590288"/>
            <a:ext cx="25603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BERT segmentation +</a:t>
            </a:r>
            <a:br/>
            <a:r>
              <a:t>ResNet + PSO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590288"/>
            <a:ext cx="256032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PlantVillage Cotton</a:t>
            </a:r>
            <a:br/>
            <a:r>
              <a:t>(4K+ images)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4590288"/>
            <a:ext cx="2286000" cy="804672"/>
          </a:xfrm>
          <a:prstGeom prst="rect">
            <a:avLst/>
          </a:prstGeom>
          <a:solidFill>
            <a:srgbClr val="0F2814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98.5% acc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94960"/>
            <a:ext cx="274320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Latent Diffusion</a:t>
            </a:r>
            <a:br/>
            <a:r>
              <a:t>Semi-Supervised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5394960"/>
            <a:ext cx="7315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5394960"/>
            <a:ext cx="25603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Semi-supervised latent</a:t>
            </a:r>
            <a:br/>
            <a:r>
              <a:t>diffusion + ResNet-50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394960"/>
            <a:ext cx="256032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17K wheat images</a:t>
            </a:r>
            <a:br/>
            <a:r>
              <a:t>Yellow rust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5394960"/>
            <a:ext cx="2286000" cy="804672"/>
          </a:xfrm>
          <a:prstGeom prst="rect">
            <a:avLst/>
          </a:prstGeom>
          <a:solidFill>
            <a:srgbClr val="14371E"/>
          </a:solidFill>
          <a:ln w="6350">
            <a:solidFill>
              <a:srgbClr val="28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900">
                <a:solidFill>
                  <a:srgbClr val="DCFFDC"/>
                </a:solidFill>
                <a:latin typeface="Calibri"/>
              </a:defRPr>
            </a:pPr>
            <a:r>
              <a:t>Better few-label perf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2179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Calibri"/>
              </a:defRPr>
            </a:pPr>
            <a:r>
              <a:t>Research Gap: Limited real-field validation | No integrated XAI + severity + treatment | Heavy models for edge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64"/>
                </a:solidFill>
                <a:latin typeface="Calibri"/>
              </a:defRPr>
            </a:pPr>
            <a:r>
              <a:t>Implementation &amp;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2004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New Plant Diseases Dataset (Kaggle)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38 disease classes, 14 crop species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70,295 training images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17,572 validation images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38 test images (supplementary)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Augmented: rotation, flip, zoom, color 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029200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TensorFlow / Keras (Classification)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PyTorch (Hybrid CNN-ViT backend)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OpenCV (Preprocessing &amp; Augmentation)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Gradio (Web Demo UI)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python-pptx (Presentation)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Grad-CAM (Explainable AI)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725912" cy="210312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Resize to 224x224, normalize pixel values to [0, 1]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ExG/ExR vegetation indices for background separation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Bilateral filtering for noise reduction (preserves edges)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K-means clustering for leaf region isolation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Data augmentation: horizontal/vertical flip, rotation, zoom, color jittering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PG Sravani  (2360429)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64"/>
                </a:solidFill>
                <a:latin typeface="Calibri"/>
              </a:defRPr>
            </a:pPr>
            <a:r>
              <a:t>Baseline Early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18288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FFDC"/>
                </a:solidFill>
                <a:latin typeface="Calibri"/>
              </a:defRPr>
            </a:pPr>
            <a:r>
              <a:t>Develop a robust classification architecture using ResNet and EfficientNet for accurate identification of early-stage infections and subtle disease symptoms.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ResNet-50: 50-layer residual network with skip connections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EfficientNet-B0/B3: Compound scaling for efficiency-accuracy tradeoff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Transfer learning from ImageNet pre-trained weights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Custom classifier heads with dropout and batch normalization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Data augmentation strategies to enhance model sensitivity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PG Sravani  —  Results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5912" cy="22860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Results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MobileNetV2 subset: 88.3% validation accuracy (7 classes, 3,345 val images)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Full model trained on all 38 classes using the complete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Key Contributions to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Established the baseline classification pipeline on the full 38-class dataset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Validated transfer learning with ResNet and EfficientNet on plant disease data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Provided the foundation model architecture used by other modules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Generated classification reports and accuracy benchmarks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Dominic Andrew P  (2360365)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64"/>
                </a:solidFill>
                <a:latin typeface="Calibri"/>
              </a:defRPr>
            </a:pPr>
            <a:r>
              <a:t>Edge-Optimized Hybrid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18288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FFDC"/>
                </a:solidFill>
                <a:latin typeface="Calibri"/>
              </a:defRPr>
            </a:pPr>
            <a:r>
              <a:t>Fuse local feature extraction (MobileNetV3) with global contextual reasoning (Vision Transformer) to create a lightweight, highly accurate model for real-time edge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MobileNetV3-Small backbone: local feature extraction (depthwise separable convolutions)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Vision Transformer (ViT-B/16): global context via self-attention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Cross-attention fusion block: CNN features projected into transformer space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ExG/ExR vegetation indices preprocessing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3.7M parameters — deployable on mobile and drone edge devices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Dominic Andrew P  —  Results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5912" cy="22860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Results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PyTorch hybrid model: &gt;99% validation accuracy (25 classes)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Hybrid checkpoint: hybrid_model_best.pth (45 MB)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Spot-check on val images: Potato early blight 100%, Pepper bact 90-100%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Key Contributions to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Designed the hybrid CNN-ViT architecture achieving &gt;99% accuracy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Achieved lightweight model (3.7M params) suitable for mobile deployment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Integrated ExG/ExR vegetation indices for improved preprocessing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Created the PyTorch hybrid backend with Gradio web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Aryaahi Singh  (2360342)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64"/>
                </a:solidFill>
                <a:latin typeface="Calibri"/>
              </a:defRPr>
            </a:pPr>
            <a:r>
              <a:t>Spatial Localization &amp; Severity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18288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FFDC"/>
                </a:solidFill>
                <a:latin typeface="Calibri"/>
              </a:defRPr>
            </a:pPr>
            <a:r>
              <a:t>Deploy advanced segmentation networks (YOLOv8, U-Net) to precisely isolate infected leaf regions from complex backgrounds, enabling accurate severity estimation.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YOLOv8: Real-time object detection for bounding-box localization of disease regions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U-Net: Semantic segmentation for pixel-level delineation of infected tissues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Severity calculation: pixel ratio of infected region / total leaf area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Handles complex backgrounds, shadows, and varying illumination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Filters background noise to provide precise disease extent measurement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Aryaahi Singh  —  Results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5912" cy="22860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Results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YOLOv8 real-time detection: 81.54% mAP @ 142 FPS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U-Net segmentation IoU: ~93.87% on benchmark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Severity mask ratio: 0% to 87.93% defect area estimation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Key Contributions to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Implemented YOLOv8 for real-time disease region localization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Deployed U-Net for precise pixel-level segmentation of infected areas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Developed severity estimation from segmentation mask pixel ratios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Enabled the system to measure disease extent quantitatively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Vidhi Garg  (2360479)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64"/>
                </a:solidFill>
                <a:latin typeface="Calibri"/>
              </a:defRPr>
            </a:pPr>
            <a:r>
              <a:t>Explainable AI &amp;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18288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FFDC"/>
                </a:solidFill>
                <a:latin typeface="Calibri"/>
              </a:defRPr>
            </a:pPr>
            <a:r>
              <a:t>Integrate Explainable AI (Grad-CAM) for model transparency and build a rule-based decision support engine for crop treatment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Grad-CAM: Activation heatmaps highlighting lesion regions that triggered predictions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Disease Forecasting: Predicts short-term disease progression from current severity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Treatment Engine: Translates neural network outputs into personalized treatment advice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Builds farmer trust through visual explanations of model decisions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Optimizes pesticide application based on severity masks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Vidhi Garg  —  Results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6576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5912" cy="22860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Results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Grad-CAM heatmap: visually highlights exact lesion regions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Treatment recommendations: severity-based, crop-specific</a:t>
            </a:r>
          </a:p>
          <a:p>
            <a:pPr>
              <a:spcAft>
                <a:spcPts val="800"/>
              </a:spcAft>
              <a:defRPr sz="1600">
                <a:solidFill>
                  <a:srgbClr val="DCFFDC"/>
                </a:solidFill>
                <a:latin typeface="Calibri"/>
              </a:defRPr>
            </a:pPr>
            <a:r>
              <a:t>Forecasting module: predicts disease progression from severity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725912" cy="274320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Key Contributions to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Integrated Grad-CAM XAI for transparent model predictions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Built the disease forecasting module for progression prediction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Designed the rule-based treatment recommendation engine</a:t>
            </a:r>
          </a:p>
          <a:p>
            <a:pPr>
              <a:spcAft>
                <a:spcPts val="800"/>
              </a:spcAft>
              <a:defRPr sz="1500">
                <a:solidFill>
                  <a:srgbClr val="DCFFDC"/>
                </a:solidFill>
                <a:latin typeface="Calibri"/>
              </a:defRPr>
            </a:pPr>
            <a:r>
              <a:t>Created the farmer-facing decision support 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64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464"/>
                </a:solidFill>
                <a:latin typeface="Calibri"/>
              </a:defRPr>
            </a:pPr>
            <a:r>
              <a:t>Input</a:t>
            </a:r>
            <a:br/>
            <a:r>
              <a:t>Image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Smartphone /</a:t>
            </a:r>
            <a:br/>
            <a:r>
              <a:t>Drone / Satellite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3291839"/>
            <a:ext cx="182880" cy="320040"/>
          </a:xfrm>
          <a:prstGeom prst="rightArrow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0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8C50"/>
                </a:solidFill>
                <a:latin typeface="Calibri"/>
              </a:defRPr>
            </a:pPr>
            <a:r>
              <a:t>Preprocessing</a:t>
            </a:r>
            <a:br/>
            <a:r>
              <a:t>&amp; Segmentation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Resize, Normalize</a:t>
            </a:r>
            <a:br/>
            <a:r>
              <a:t>ExG/ExR, Bilateral</a:t>
            </a:r>
            <a:br/>
            <a:r>
              <a:t>K-means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66160" y="3291839"/>
            <a:ext cx="182880" cy="320040"/>
          </a:xfrm>
          <a:prstGeom prst="rightArrow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39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00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8A0"/>
                </a:solidFill>
                <a:latin typeface="Calibri"/>
              </a:defRPr>
            </a:pPr>
            <a:r>
              <a:t>Localization</a:t>
            </a:r>
            <a:br/>
            <a:r>
              <a:t>(YOLOv8/U-Net)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Disease region</a:t>
            </a:r>
            <a:br/>
            <a:r>
              <a:t>bounding boxes</a:t>
            </a:r>
            <a:br/>
            <a:r>
              <a:t>+ pixel masks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12079" y="3291839"/>
            <a:ext cx="182880" cy="320040"/>
          </a:xfrm>
          <a:prstGeom prst="rightArrow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7800"/>
                </a:solidFill>
                <a:latin typeface="Calibri"/>
              </a:defRPr>
            </a:pPr>
            <a:r>
              <a:t>Classification</a:t>
            </a:r>
            <a:br/>
            <a:r>
              <a:t>(Hybrid CNN-ViT)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MobileNetV3</a:t>
            </a:r>
            <a:br/>
            <a:r>
              <a:t>+ ViT-B/16</a:t>
            </a:r>
            <a:br/>
            <a:r>
              <a:t>fusion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3291839"/>
            <a:ext cx="182880" cy="320040"/>
          </a:xfrm>
          <a:prstGeom prst="rightArrow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B4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3C00"/>
                </a:solidFill>
                <a:latin typeface="Calibri"/>
              </a:defRPr>
            </a:pPr>
            <a:r>
              <a:t>Severity</a:t>
            </a:r>
            <a:br/>
            <a:r>
              <a:t>Estimation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Infected pixel</a:t>
            </a:r>
            <a:br/>
            <a:r>
              <a:t>ratio from</a:t>
            </a:r>
            <a:br/>
            <a:r>
              <a:t>segmentation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03920" y="3291839"/>
            <a:ext cx="182880" cy="320040"/>
          </a:xfrm>
          <a:prstGeom prst="rightArrow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A00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00064"/>
                </a:solidFill>
                <a:latin typeface="Calibri"/>
              </a:defRPr>
            </a:pPr>
            <a:r>
              <a:t>XAI</a:t>
            </a:r>
            <a:br/>
            <a:r>
              <a:t>(Grad-CAM)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Activation</a:t>
            </a:r>
            <a:br/>
            <a:r>
              <a:t>heatmaps for</a:t>
            </a:r>
            <a:br/>
            <a:r>
              <a:t>transparency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149840" y="3291839"/>
            <a:ext cx="182880" cy="320040"/>
          </a:xfrm>
          <a:prstGeom prst="rightArrow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560320"/>
            <a:ext cx="1463040" cy="1828800"/>
          </a:xfrm>
          <a:prstGeom prst="roundRect">
            <a:avLst/>
          </a:prstGeom>
          <a:solidFill>
            <a:srgbClr val="0F2D19"/>
          </a:solidFill>
          <a:ln w="31750">
            <a:solidFill>
              <a:srgbClr val="00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A03C"/>
                </a:solidFill>
                <a:latin typeface="Calibri"/>
              </a:defRPr>
            </a:pPr>
            <a:r>
              <a:t>Decision</a:t>
            </a:r>
            <a:br/>
            <a:r>
              <a:t>Support</a:t>
            </a:r>
          </a:p>
          <a:p>
            <a:pPr algn="ctr">
              <a:defRPr sz="1000">
                <a:solidFill>
                  <a:srgbClr val="DCFFDC"/>
                </a:solidFill>
                <a:latin typeface="Calibri"/>
              </a:defRPr>
            </a:pPr>
            <a:r>
              <a:t>Treatment</a:t>
            </a:r>
            <a:br/>
            <a:r>
              <a:t>recommendations</a:t>
            </a:r>
            <a:br/>
            <a:r>
              <a:t>+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CFFDC"/>
                </a:solidFill>
                <a:latin typeface="Calibri"/>
              </a:defRPr>
            </a:pPr>
            <a:r>
              <a:t>End-to-End Pipeline: Input → Preprocess → Localize → Classify → Severity → Explain → Recommend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725912" cy="914400"/>
          </a:xfrm>
          <a:prstGeom prst="roundRect">
            <a:avLst/>
          </a:prstGeom>
          <a:solidFill>
            <a:srgbClr val="0F2819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64"/>
                </a:solidFill>
                <a:latin typeface="Calibri"/>
              </a:defRPr>
            </a:pPr>
            <a:r>
              <a:t>38 Disease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&gt;99% Validation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577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64"/>
                </a:solidFill>
                <a:latin typeface="Calibri"/>
              </a:defRPr>
            </a:pPr>
            <a:r>
              <a:t>3.7M Parameters | Real-Time Edge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64"/>
                </a:solidFill>
                <a:latin typeface="Calibri"/>
              </a:defRPr>
            </a:pPr>
            <a:r>
              <a:t>Conclusion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200400" cy="36576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92608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Integrated four pillars into a unified crop disease detection framework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Achieved &gt;99% accuracy with lightweight, edge-deployable hybrid model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Grad-CAM provides transparency for farmer trust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Severity estimation enables quantitative disease assessment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Treatment engine delivers actionable crop health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292608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CFFDC"/>
                </a:solidFill>
                <a:latin typeface="Calibri"/>
              </a:defRPr>
            </a:pPr>
            <a:r>
              <a:t>[1] ViT-U-Net Fusion — Q1, 99.21% acc (Kaggle 87K)</a:t>
            </a:r>
          </a:p>
          <a:p>
            <a:pPr>
              <a:spcAft>
                <a:spcPts val="800"/>
              </a:spcAft>
              <a:defRPr sz="1200">
                <a:solidFill>
                  <a:srgbClr val="DCFFDC"/>
                </a:solidFill>
                <a:latin typeface="Calibri"/>
              </a:defRPr>
            </a:pPr>
            <a:r>
              <a:t>[2] Hybrid CNN-ViT — EfficientNet-B7+ViT-B16, 98.13%</a:t>
            </a:r>
          </a:p>
          <a:p>
            <a:pPr>
              <a:spcAft>
                <a:spcPts val="800"/>
              </a:spcAft>
              <a:defRPr sz="1200">
                <a:solidFill>
                  <a:srgbClr val="DCFFDC"/>
                </a:solidFill>
                <a:latin typeface="Calibri"/>
              </a:defRPr>
            </a:pPr>
            <a:r>
              <a:t>[3] MobileNetV3 Customized — Two-stage TL, 99.37%</a:t>
            </a:r>
          </a:p>
          <a:p>
            <a:pPr>
              <a:spcAft>
                <a:spcPts val="800"/>
              </a:spcAft>
              <a:defRPr sz="1200">
                <a:solidFill>
                  <a:srgbClr val="DCFFDC"/>
                </a:solidFill>
                <a:latin typeface="Calibri"/>
              </a:defRPr>
            </a:pPr>
            <a:r>
              <a:t>[4] CDH-CapsNet — Fewer params, spatial preservation</a:t>
            </a:r>
          </a:p>
          <a:p>
            <a:pPr>
              <a:spcAft>
                <a:spcPts val="800"/>
              </a:spcAft>
              <a:defRPr sz="1200">
                <a:solidFill>
                  <a:srgbClr val="DCFFDC"/>
                </a:solidFill>
                <a:latin typeface="Calibri"/>
              </a:defRPr>
            </a:pPr>
            <a:r>
              <a:t>[5] YOLOv8 Real-Time — 81.54% mAP, 142 FPS</a:t>
            </a:r>
          </a:p>
          <a:p>
            <a:pPr>
              <a:spcAft>
                <a:spcPts val="800"/>
              </a:spcAft>
              <a:defRPr sz="1200">
                <a:solidFill>
                  <a:srgbClr val="DCFFDC"/>
                </a:solidFill>
                <a:latin typeface="Calibri"/>
              </a:defRPr>
            </a:pPr>
            <a:r>
              <a:t>[6] Grad-CAM XAI — Cuckoo+Beluga optimized CNN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5912" cy="1463040"/>
          </a:xfrm>
          <a:prstGeom prst="roundRect">
            <a:avLst/>
          </a:prstGeom>
          <a:solidFill>
            <a:srgbClr val="14321E"/>
          </a:solidFill>
          <a:ln w="19050">
            <a:solidFill>
              <a:srgbClr val="00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Deploy full hybrid pipeline on mobile app (Android/iOS) with real-time camera inference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Integrate IoT sensor data (soil moisture, temperature) for holistic crop health monitoring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Expand to real-field data collection across diverse Indian agricultural regions</a:t>
            </a:r>
          </a:p>
          <a:p>
            <a:pPr>
              <a:spcAft>
                <a:spcPts val="800"/>
              </a:spcAft>
              <a:defRPr sz="1400">
                <a:solidFill>
                  <a:srgbClr val="DCFFDC"/>
                </a:solidFill>
                <a:latin typeface="Calibri"/>
              </a:defRPr>
            </a:pPr>
            <a:r>
              <a:t>Develop federated learning approach for privacy-preserving multi-farm 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64"/>
                </a:solidFill>
                <a:latin typeface="Calibri"/>
              </a:defRPr>
            </a:pPr>
            <a: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